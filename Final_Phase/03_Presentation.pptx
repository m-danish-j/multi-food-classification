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FEB8AF-B046-4634-9846-64885FDD7575}">
  <a:tblStyle styleId="{F4FEB8AF-B046-4634-9846-64885FDD75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Tahoma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Tahom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16764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 rot="5400000">
            <a:off x="4800600" y="2209800"/>
            <a:ext cx="5715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 rot="5400000">
            <a:off x="609600" y="228600"/>
            <a:ext cx="5715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 rot="5400000">
            <a:off x="2514600" y="-76200"/>
            <a:ext cx="41148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l">
              <a:spcBef>
                <a:spcPts val="640"/>
              </a:spcBef>
              <a:spcAft>
                <a:spcPts val="0"/>
              </a:spcAft>
              <a:buSzPts val="2080"/>
              <a:buChar char="■"/>
              <a:defRPr sz="3200"/>
            </a:lvl1pPr>
            <a:lvl2pPr indent="-344169" lvl="1" marL="9144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5pPr>
            <a:lvl6pPr indent="-311150" lvl="5" marL="27432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6pPr>
            <a:lvl7pPr indent="-311150" lvl="6" marL="3200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7pPr>
            <a:lvl8pPr indent="-311150" lvl="7" marL="3657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8pPr>
            <a:lvl9pPr indent="-311150" lvl="8" marL="41148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5pPr>
            <a:lvl6pPr indent="-294639" lvl="5" marL="27432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6pPr>
            <a:lvl7pPr indent="-294639" lvl="6" marL="32004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7pPr>
            <a:lvl8pPr indent="-294640" lvl="7" marL="36576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8pPr>
            <a:lvl9pPr indent="-294640" lvl="8" marL="4114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9pPr>
          </a:lstStyle>
          <a:p/>
        </p:txBody>
      </p:sp>
      <p:sp>
        <p:nvSpPr>
          <p:cNvPr id="63" name="Google Shape;63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5pPr>
            <a:lvl6pPr indent="-294639" lvl="5" marL="27432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6pPr>
            <a:lvl7pPr indent="-294639" lvl="6" marL="32004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7pPr>
            <a:lvl8pPr indent="-294640" lvl="7" marL="36576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8pPr>
            <a:lvl9pPr indent="-294640" lvl="8" marL="4114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457200" y="1981200"/>
            <a:ext cx="4038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9pPr>
          </a:lstStyle>
          <a:p/>
        </p:txBody>
      </p:sp>
      <p:sp>
        <p:nvSpPr>
          <p:cNvPr id="70" name="Google Shape;70;p11"/>
          <p:cNvSpPr txBox="1"/>
          <p:nvPr>
            <p:ph idx="2" type="body"/>
          </p:nvPr>
        </p:nvSpPr>
        <p:spPr>
          <a:xfrm>
            <a:off x="4648200" y="1981200"/>
            <a:ext cx="4038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080"/>
              <a:buFont typeface="Noto Sans Symbols"/>
              <a:buChar char="■"/>
              <a:defRPr b="0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44169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2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111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111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111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111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3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ctrTitle"/>
          </p:nvPr>
        </p:nvSpPr>
        <p:spPr>
          <a:xfrm>
            <a:off x="609600" y="1066800"/>
            <a:ext cx="8001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900"/>
              <a:buFont typeface="Tahoma"/>
              <a:buNone/>
            </a:pPr>
            <a:r>
              <a:rPr lang="en-US" sz="5900"/>
              <a:t>Multi Food Image Detection and Classification</a:t>
            </a:r>
            <a:endParaRPr/>
          </a:p>
        </p:txBody>
      </p:sp>
      <p:pic>
        <p:nvPicPr>
          <p:cNvPr descr="C:\Users\usman.waheed\Desktop\vulogo.jp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5029200"/>
            <a:ext cx="2014537" cy="14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900"/>
              <a:buFont typeface="Tahoma"/>
              <a:buNone/>
            </a:pPr>
            <a:r>
              <a:rPr b="0" i="0" lang="en-US" sz="59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Group Members </a:t>
            </a:r>
            <a:r>
              <a:rPr b="0" i="0" lang="en-US" sz="59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Introduction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57200" y="2255500"/>
            <a:ext cx="82296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080"/>
              <a:buNone/>
            </a:pPr>
            <a:r>
              <a:rPr lang="en-US"/>
              <a:t>Muhammad Danish </a:t>
            </a:r>
            <a:br>
              <a:rPr lang="en-US"/>
            </a:br>
            <a:r>
              <a:rPr lang="en-US"/>
              <a:t>Student Id: bc220207791</a:t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800"/>
              <a:t>A dedicated and enthusiastic student with full-stack development experience and a strong interest in technology and problem-solving.</a:t>
            </a:r>
            <a:endParaRPr sz="2800"/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ctrTitle"/>
          </p:nvPr>
        </p:nvSpPr>
        <p:spPr>
          <a:xfrm>
            <a:off x="762000" y="2286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Tahoma"/>
              <a:buNone/>
            </a:pPr>
            <a:r>
              <a:rPr b="0" i="0" lang="en-US" sz="48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INTRODUCTION OF PROJECT</a:t>
            </a:r>
            <a:endParaRPr/>
          </a:p>
        </p:txBody>
      </p:sp>
      <p:sp>
        <p:nvSpPr>
          <p:cNvPr id="102" name="Google Shape;102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rPr b="0" i="0" lang="en-US" sz="32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pic>
        <p:nvPicPr>
          <p:cNvPr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305550"/>
            <a:ext cx="8382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/>
          <p:nvPr/>
        </p:nvSpPr>
        <p:spPr>
          <a:xfrm>
            <a:off x="924550" y="2387600"/>
            <a:ext cx="7533600" cy="3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 deep learning system that detects and classifies multiple food items (e.g., roti, rice, dal, salad) in a single image. It supports applications like diet monitoring, food delivery, and restaurant automation by providing fast, accurate, and automated food recognition using advanced image processing and a well-structured dataset.</a:t>
            </a:r>
            <a:endParaRPr sz="37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Introduction &amp; Problem Statement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518150" y="212345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457200" rtl="0" algn="l">
              <a:spcBef>
                <a:spcPts val="640"/>
              </a:spcBef>
              <a:spcAft>
                <a:spcPts val="0"/>
              </a:spcAft>
              <a:buSzPts val="2700"/>
              <a:buChar char="■"/>
            </a:pPr>
            <a:r>
              <a:rPr lang="en-US" sz="2700"/>
              <a:t>Real meal images contain multiple items that current systems cannot fully detect.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■"/>
            </a:pPr>
            <a:r>
              <a:rPr lang="en-US" sz="2700"/>
              <a:t>Automated multi-food recognition is needed for diet and food service applications.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■"/>
            </a:pPr>
            <a:r>
              <a:rPr lang="en-US" sz="2700"/>
              <a:t>Manual food identification is slow and </a:t>
            </a:r>
            <a:r>
              <a:rPr lang="en-US" sz="2700"/>
              <a:t>inconsistent</a:t>
            </a:r>
            <a:r>
              <a:rPr lang="en-US" sz="2700"/>
              <a:t>.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■"/>
            </a:pPr>
            <a:r>
              <a:rPr lang="en-US" sz="2700"/>
              <a:t>Existing models lack reliable multi-food detection capability.</a:t>
            </a:r>
            <a:endParaRPr sz="2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Objective of the Project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635" lvl="0" marL="342900" rtl="0" algn="l">
              <a:spcBef>
                <a:spcPts val="0"/>
              </a:spcBef>
              <a:spcAft>
                <a:spcPts val="0"/>
              </a:spcAft>
              <a:buSzPts val="1780"/>
              <a:buChar char="■"/>
            </a:pPr>
            <a:r>
              <a:rPr lang="en-US" sz="2900"/>
              <a:t>Develop a model that can detect and classify multiple food items in a single image.</a:t>
            </a:r>
            <a:endParaRPr sz="2900"/>
          </a:p>
          <a:p>
            <a:pPr indent="-381635" lvl="0" marL="342900" rtl="0" algn="l">
              <a:spcBef>
                <a:spcPts val="0"/>
              </a:spcBef>
              <a:spcAft>
                <a:spcPts val="0"/>
              </a:spcAft>
              <a:buSzPts val="1780"/>
              <a:buChar char="■"/>
            </a:pPr>
            <a:r>
              <a:rPr lang="en-US" sz="2900"/>
              <a:t>Achieve accurate and reliable recognition using deep learning based object detection.</a:t>
            </a:r>
            <a:endParaRPr sz="2900"/>
          </a:p>
          <a:p>
            <a:pPr indent="-381635" lvl="0" marL="342900" rtl="0" algn="l">
              <a:spcBef>
                <a:spcPts val="0"/>
              </a:spcBef>
              <a:spcAft>
                <a:spcPts val="0"/>
              </a:spcAft>
              <a:buSzPts val="1780"/>
              <a:buChar char="■"/>
            </a:pPr>
            <a:r>
              <a:rPr lang="en-US" sz="2900"/>
              <a:t>Build a well-prepared dataset to train and improve the model’s performance.</a:t>
            </a:r>
            <a:endParaRPr sz="2900"/>
          </a:p>
          <a:p>
            <a:pPr indent="-381635" lvl="0" marL="342900" rtl="0" algn="l">
              <a:spcBef>
                <a:spcPts val="0"/>
              </a:spcBef>
              <a:spcAft>
                <a:spcPts val="0"/>
              </a:spcAft>
              <a:buSzPts val="1780"/>
              <a:buChar char="■"/>
            </a:pPr>
            <a:r>
              <a:rPr lang="en-US" sz="2900"/>
              <a:t>Enable real time food identification through a user-friendly application.</a:t>
            </a:r>
            <a:endParaRPr sz="2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Dataset Overview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9105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</a:pPr>
            <a:r>
              <a:rPr b="1" lang="en-US" sz="3000"/>
              <a:t>Categories:</a:t>
            </a:r>
            <a:r>
              <a:rPr lang="en-US" sz="3000"/>
              <a:t> Chicken, Daal, Mixsweet, Naan, Rice, Roti, Salad, Yogurt.</a:t>
            </a:r>
            <a:br>
              <a:rPr lang="en-US" sz="3000"/>
            </a:br>
            <a:endParaRPr sz="3000"/>
          </a:p>
          <a:p>
            <a:pPr indent="-459105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</a:pPr>
            <a:r>
              <a:rPr b="1" lang="en-US" sz="3000"/>
              <a:t>Number of Images:</a:t>
            </a:r>
            <a:r>
              <a:rPr lang="en-US" sz="3000"/>
              <a:t> Dataset includes 500+ multi-food images.</a:t>
            </a:r>
            <a:br>
              <a:rPr lang="en-US" sz="3000"/>
            </a:br>
            <a:endParaRPr sz="3000"/>
          </a:p>
          <a:p>
            <a:pPr indent="-459105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</a:pPr>
            <a:r>
              <a:rPr b="1" lang="en-US" sz="3000"/>
              <a:t>Annotation Method:</a:t>
            </a:r>
            <a:r>
              <a:rPr lang="en-US" sz="3000"/>
              <a:t> All images annotated with bounding boxes using </a:t>
            </a:r>
            <a:r>
              <a:rPr b="1" lang="en-US" sz="3000"/>
              <a:t>Roboflow</a:t>
            </a:r>
            <a:r>
              <a:rPr lang="en-US" sz="3000"/>
              <a:t>.</a:t>
            </a:r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Model Overview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80"/>
              <a:buChar char="■"/>
            </a:pPr>
            <a:r>
              <a:rPr b="1" lang="en-US" sz="2700"/>
              <a:t>Chosen </a:t>
            </a:r>
            <a:r>
              <a:rPr b="1" lang="en-US" sz="2700"/>
              <a:t>Model</a:t>
            </a:r>
            <a:r>
              <a:rPr lang="en-US" sz="2700"/>
              <a:t>: YOLOv5s (a fast and lightweight real-time object detection model).</a:t>
            </a:r>
            <a:endParaRPr sz="2700"/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80"/>
              <a:buChar char="■"/>
            </a:pPr>
            <a:r>
              <a:rPr b="1" lang="en-US" sz="2700"/>
              <a:t>Key Features</a:t>
            </a:r>
            <a:r>
              <a:rPr lang="en-US" sz="2700"/>
              <a:t>: Single-stage detection, multi-scale predictions, high speed, and strong accuracy for small to medium objects.</a:t>
            </a:r>
            <a:endParaRPr sz="2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80"/>
              <a:buChar char="■"/>
            </a:pPr>
            <a:r>
              <a:rPr b="1" lang="en-US" sz="2700"/>
              <a:t>Transfer Learning Strategy</a:t>
            </a:r>
            <a:r>
              <a:rPr lang="en-US" sz="2700"/>
              <a:t>: Pretrained YOLOv5s weights fine-tuned on the custom multi-food dataset for improved performance.</a:t>
            </a:r>
            <a:endParaRPr sz="2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170"/>
              <a:buChar char="■"/>
            </a:pPr>
            <a:r>
              <a:rPr b="1" lang="en-US" sz="3100">
                <a:latin typeface="Arial"/>
                <a:ea typeface="Arial"/>
                <a:cs typeface="Arial"/>
                <a:sym typeface="Arial"/>
              </a:rPr>
              <a:t>Tools Used:</a:t>
            </a:r>
            <a:r>
              <a:rPr lang="en-US" sz="3100">
                <a:latin typeface="Arial"/>
                <a:ea typeface="Arial"/>
                <a:cs typeface="Arial"/>
                <a:sym typeface="Arial"/>
              </a:rPr>
              <a:t> Google Colab with NVIDIA Tesla T4 GPU, Python, PyTorch, Roboflow.</a:t>
            </a:r>
            <a:br>
              <a:rPr lang="en-US" sz="3100">
                <a:latin typeface="Arial"/>
                <a:ea typeface="Arial"/>
                <a:cs typeface="Arial"/>
                <a:sym typeface="Arial"/>
              </a:rPr>
            </a:br>
            <a:endParaRPr sz="3100">
              <a:latin typeface="Arial"/>
              <a:ea typeface="Arial"/>
              <a:cs typeface="Arial"/>
              <a:sym typeface="Arial"/>
            </a:endParaRPr>
          </a:p>
          <a:p>
            <a:pPr indent="-469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170"/>
              <a:buChar char="■"/>
            </a:pPr>
            <a:r>
              <a:rPr b="1" lang="en-US" sz="3100">
                <a:latin typeface="Arial"/>
                <a:ea typeface="Arial"/>
                <a:cs typeface="Arial"/>
                <a:sym typeface="Arial"/>
              </a:rPr>
              <a:t>Training Parameters:</a:t>
            </a:r>
            <a:r>
              <a:rPr lang="en-US" sz="3100">
                <a:latin typeface="Arial"/>
                <a:ea typeface="Arial"/>
                <a:cs typeface="Arial"/>
                <a:sym typeface="Arial"/>
              </a:rPr>
              <a:t> 50–100 epochs, batch size 8-16, image size 640×640, SGD optimizer</a:t>
            </a:r>
            <a:endParaRPr sz="5200"/>
          </a:p>
        </p:txBody>
      </p:sp>
      <p:sp>
        <p:nvSpPr>
          <p:cNvPr id="134" name="Google Shape;134;p21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Training Setup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Model Evaluation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2585" lvl="0" marL="342900" rtl="0" algn="l">
              <a:spcBef>
                <a:spcPts val="0"/>
              </a:spcBef>
              <a:spcAft>
                <a:spcPts val="0"/>
              </a:spcAft>
              <a:buSzPts val="1480"/>
              <a:buChar char="■"/>
            </a:pPr>
            <a:r>
              <a:rPr lang="en-US" sz="2800"/>
              <a:t>High accuracy &amp; real-time performance (mAP@0.5: 76.1%, 40–60 FPS)</a:t>
            </a:r>
            <a:endParaRPr sz="28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62585" lvl="0" marL="342900" rtl="0" algn="l">
              <a:spcBef>
                <a:spcPts val="0"/>
              </a:spcBef>
              <a:spcAft>
                <a:spcPts val="0"/>
              </a:spcAft>
              <a:buSzPts val="1480"/>
              <a:buChar char="■"/>
            </a:pPr>
            <a:r>
              <a:rPr lang="en-US" sz="2800"/>
              <a:t>Pre vs. Post tuning comparison</a:t>
            </a:r>
            <a:endParaRPr sz="2800"/>
          </a:p>
          <a:p>
            <a:pPr indent="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graphicFrame>
        <p:nvGraphicFramePr>
          <p:cNvPr id="141" name="Google Shape;141;p22"/>
          <p:cNvGraphicFramePr/>
          <p:nvPr/>
        </p:nvGraphicFramePr>
        <p:xfrm>
          <a:off x="952500" y="403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{F4FEB8AF-B046-4634-9846-64885FDD7575}</a:tableStyleId>
              </a:tblPr>
              <a:tblGrid>
                <a:gridCol w="1765400"/>
                <a:gridCol w="2060025"/>
                <a:gridCol w="1856850"/>
                <a:gridCol w="1597375"/>
              </a:tblGrid>
              <a:tr h="51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Metric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Before Fine-tuning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After </a:t>
                      </a: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Fine-tuning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Improvement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mAP@0.5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72.3%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76.1%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+3.8%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1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Precision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74.2%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78.1%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+3.9%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1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Recall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68.9%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72.4%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+3.5%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Fine</a:t>
            </a:r>
            <a:r>
              <a:rPr lang="en-US"/>
              <a:t> </a:t>
            </a: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Tuning Techniques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80"/>
              <a:buChar char="■"/>
            </a:pPr>
            <a:r>
              <a:rPr b="1" lang="en-US" sz="2900"/>
              <a:t>Augmentation</a:t>
            </a:r>
            <a:r>
              <a:rPr lang="en-US" sz="2900"/>
              <a:t>: Adjusted hue, saturation, brightness, rotation, scaling, and applied mosaic.</a:t>
            </a:r>
            <a:br>
              <a:rPr lang="en-US" sz="2900"/>
            </a:br>
            <a:endParaRPr sz="2900"/>
          </a:p>
          <a:p>
            <a:pPr indent="-32385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80"/>
              <a:buChar char="■"/>
            </a:pPr>
            <a:r>
              <a:rPr b="1" lang="en-US" sz="2900"/>
              <a:t>Other Strategies</a:t>
            </a:r>
            <a:r>
              <a:rPr lang="en-US" sz="2900"/>
              <a:t>: Tested different epochs (50, 60, 70), batch sizes (8, 12, 16), class weights, and optimized anchor boxes.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Sample Results</a:t>
            </a:r>
            <a:endParaRPr/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05000"/>
            <a:ext cx="4723046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7846" y="1905000"/>
            <a:ext cx="3963754" cy="4028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Challenges &amp; Limitations</a:t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457200" y="1666250"/>
            <a:ext cx="8229600" cy="44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80"/>
              <a:buChar char="■"/>
            </a:pPr>
            <a:r>
              <a:rPr b="1" lang="en-US" sz="2700"/>
              <a:t>Technical Issues</a:t>
            </a:r>
            <a:r>
              <a:rPr lang="en-US" sz="2700"/>
              <a:t>: Small objects and overlapping items are harder to detect accurately.</a:t>
            </a:r>
            <a:br>
              <a:rPr lang="en-US" sz="2700"/>
            </a:br>
            <a:endParaRPr sz="2700"/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80"/>
              <a:buChar char="■"/>
            </a:pPr>
            <a:r>
              <a:rPr b="1" lang="en-US" sz="2700"/>
              <a:t>Dataset/Class Imbalance</a:t>
            </a:r>
            <a:r>
              <a:rPr lang="en-US" sz="2700"/>
              <a:t>: Classes like Mix Sweet (35 samples) are underrepresented compared to Rice (309 samples), affecting model performance.</a:t>
            </a:r>
            <a:br>
              <a:rPr lang="en-US" sz="2700"/>
            </a:br>
            <a:endParaRPr sz="2700"/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80"/>
              <a:buChar char="■"/>
            </a:pPr>
            <a:r>
              <a:rPr b="1" lang="en-US" sz="2700"/>
              <a:t>Resource Constraints</a:t>
            </a:r>
            <a:r>
              <a:rPr lang="en-US" sz="2700"/>
              <a:t>: Limited GPU/CPU resources can slow training and restrict hyperparameter tuning.</a:t>
            </a:r>
            <a:endParaRPr sz="2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Conclusion &amp; Future Work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27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700"/>
              <a:buChar char="■"/>
            </a:pPr>
            <a:r>
              <a:rPr b="1" lang="en-US" sz="2700"/>
              <a:t>Summary of Outcomes</a:t>
            </a:r>
            <a:endParaRPr b="1" sz="2700"/>
          </a:p>
          <a:p>
            <a:pPr indent="-28702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200"/>
              <a:buChar char="■"/>
            </a:pPr>
            <a:r>
              <a:rPr lang="en-US" sz="1900"/>
              <a:t>Trained YOLOv5 model for Pakistani multi-food detection</a:t>
            </a:r>
            <a:endParaRPr sz="1900"/>
          </a:p>
          <a:p>
            <a:pPr indent="-28702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200"/>
              <a:buChar char="■"/>
            </a:pPr>
            <a:r>
              <a:rPr lang="en-US" sz="1900"/>
              <a:t>Achieved 76.1% mAP@0.5, real-time inference (&lt;500ms)</a:t>
            </a:r>
            <a:endParaRPr sz="1900"/>
          </a:p>
          <a:p>
            <a:pPr indent="-28702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200"/>
              <a:buChar char="■"/>
            </a:pPr>
            <a:r>
              <a:rPr lang="en-US" sz="1900"/>
              <a:t>Deployed browser-based web app with intuitive UI</a:t>
            </a:r>
            <a:endParaRPr sz="1900"/>
          </a:p>
          <a:p>
            <a:pPr indent="-28702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200"/>
              <a:buChar char="■"/>
            </a:pPr>
            <a:r>
              <a:rPr lang="en-US" sz="1900"/>
              <a:t>Handles multiple food items with bounding boxes and confidence scores</a:t>
            </a:r>
            <a:endParaRPr sz="1900"/>
          </a:p>
          <a:p>
            <a:pPr indent="-38862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00"/>
              <a:buChar char="■"/>
            </a:pPr>
            <a:r>
              <a:rPr b="1" lang="en-US" sz="2700"/>
              <a:t>Future Improvements</a:t>
            </a:r>
            <a:endParaRPr b="1" sz="2700"/>
          </a:p>
          <a:p>
            <a:pPr indent="-28702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200"/>
              <a:buChar char="■"/>
            </a:pPr>
            <a:r>
              <a:rPr lang="en-US" sz="1900"/>
              <a:t>Expand dataset and add more food categories</a:t>
            </a:r>
            <a:endParaRPr sz="1900"/>
          </a:p>
          <a:p>
            <a:pPr indent="-28702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200"/>
              <a:buChar char="■"/>
            </a:pPr>
            <a:r>
              <a:rPr lang="en-US" sz="1900"/>
              <a:t>Enhance accuracy for challenging classes (Daal, Chicken)</a:t>
            </a:r>
            <a:endParaRPr sz="1900"/>
          </a:p>
          <a:p>
            <a:pPr indent="-28702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200"/>
              <a:buChar char="■"/>
            </a:pPr>
            <a:r>
              <a:rPr lang="en-US" sz="1900"/>
              <a:t>Implement mobile apps and real-time video detection</a:t>
            </a:r>
            <a:endParaRPr sz="1900"/>
          </a:p>
          <a:p>
            <a:pPr indent="-28702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200"/>
              <a:buChar char="■"/>
            </a:pPr>
            <a:r>
              <a:rPr lang="en-US" sz="1900"/>
              <a:t>Add nutritional info, portion estimation, and recipe suggestions</a:t>
            </a:r>
            <a:endParaRPr sz="1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Acknowledgments / Questions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80"/>
              <a:buFont typeface="Noto Sans Symbols"/>
              <a:buChar char="■"/>
            </a:pPr>
            <a:r>
              <a:rPr lang="en-US" sz="3800"/>
              <a:t>Ultralytics, Colab, Vercel, open-source community</a:t>
            </a:r>
            <a:endParaRPr sz="3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  <a:p>
            <a:pPr indent="-381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80"/>
              <a:buFont typeface="Noto Sans Symbols"/>
              <a:buChar char="■"/>
            </a:pPr>
            <a:r>
              <a:rPr lang="en-US" sz="3800"/>
              <a:t>I welcome any questions or feedback!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xtured">
  <a:themeElements>
    <a:clrScheme name="Textured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